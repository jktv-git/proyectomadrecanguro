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67" r:id="rId6"/>
    <p:sldId id="268" r:id="rId7"/>
    <p:sldId id="258" r:id="rId8"/>
    <p:sldId id="269" r:id="rId9"/>
    <p:sldId id="260" r:id="rId10"/>
  </p:sldIdLst>
  <p:sldSz cx="9144000" cy="5143500" type="screen16x9"/>
  <p:notesSz cx="6858000" cy="9144000"/>
  <p:embeddedFontLst>
    <p:embeddedFont>
      <p:font typeface="Maven Pro" pitchFamily="2" charset="77"/>
      <p:regular r:id="rId12"/>
      <p:bold r:id="rId13"/>
    </p:embeddedFont>
    <p:embeddedFont>
      <p:font typeface="Montserrat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5" roundtripDataSignature="AMtx7mgEM1NLczUAwVql5bWwZLw9+PO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F263B0-E485-0E4C-91E2-3BE0541E6A51}" v="19" dt="2025-12-01T02:43:20.076"/>
  </p1510:revLst>
</p1510:revInfo>
</file>

<file path=ppt/tableStyles.xml><?xml version="1.0" encoding="utf-8"?>
<a:tblStyleLst xmlns:a="http://schemas.openxmlformats.org/drawingml/2006/main" def="{A405A896-D7A7-4F2A-BA80-B9CEF7D1D9D8}">
  <a:tblStyle styleId="{A405A896-D7A7-4F2A-BA80-B9CEF7D1D9D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98"/>
  </p:normalViewPr>
  <p:slideViewPr>
    <p:cSldViewPr snapToGrid="0">
      <p:cViewPr>
        <p:scale>
          <a:sx n="140" d="100"/>
          <a:sy n="140" d="100"/>
        </p:scale>
        <p:origin x="74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9139C27-7C8E-ACA8-9B19-BA41787D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>
            <a:extLst>
              <a:ext uri="{FF2B5EF4-FFF2-40B4-BE49-F238E27FC236}">
                <a16:creationId xmlns:a16="http://schemas.microsoft.com/office/drawing/2014/main" id="{357D4AAF-B821-6A16-0D0C-556155427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A9392526-1706-10ED-465F-05DF8ABCF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94A"/>
                </a:solidFill>
              </a:rPr>
              <a:t>Desarrollar</a:t>
            </a:r>
            <a:r>
              <a:rPr lang="en-US" dirty="0">
                <a:solidFill>
                  <a:srgbClr val="00094A"/>
                </a:solidFill>
              </a:rPr>
              <a:t> un </a:t>
            </a:r>
            <a:r>
              <a:rPr lang="en-US" dirty="0" err="1">
                <a:solidFill>
                  <a:srgbClr val="00094A"/>
                </a:solidFill>
              </a:rPr>
              <a:t>modelo</a:t>
            </a:r>
            <a:r>
              <a:rPr lang="en-US" dirty="0">
                <a:solidFill>
                  <a:srgbClr val="00094A"/>
                </a:solidFill>
              </a:rPr>
              <a:t> de datos </a:t>
            </a:r>
            <a:r>
              <a:rPr lang="en-US" dirty="0" err="1">
                <a:solidFill>
                  <a:srgbClr val="00094A"/>
                </a:solidFill>
              </a:rPr>
              <a:t>predictivo</a:t>
            </a:r>
            <a:r>
              <a:rPr lang="en-US" dirty="0">
                <a:solidFill>
                  <a:srgbClr val="00094A"/>
                </a:solidFill>
              </a:rPr>
              <a:t> del </a:t>
            </a:r>
            <a:r>
              <a:rPr lang="en-US" dirty="0" err="1">
                <a:solidFill>
                  <a:srgbClr val="00094A"/>
                </a:solidFill>
              </a:rPr>
              <a:t>desarrollo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neurológico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cognitivo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basado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en</a:t>
            </a:r>
            <a:r>
              <a:rPr lang="en-US" dirty="0">
                <a:solidFill>
                  <a:srgbClr val="00094A"/>
                </a:solidFill>
              </a:rPr>
              <a:t> variables </a:t>
            </a:r>
            <a:r>
              <a:rPr lang="en-US" dirty="0" err="1">
                <a:solidFill>
                  <a:srgbClr val="00094A"/>
                </a:solidFill>
              </a:rPr>
              <a:t>iniciales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exposición</a:t>
            </a:r>
            <a:r>
              <a:rPr lang="en-US" dirty="0">
                <a:solidFill>
                  <a:srgbClr val="00094A"/>
                </a:solidFill>
              </a:rPr>
              <a:t> al MMC.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1732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8EA5073-B43D-BB67-89AB-F50BFCD1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>
            <a:extLst>
              <a:ext uri="{FF2B5EF4-FFF2-40B4-BE49-F238E27FC236}">
                <a16:creationId xmlns:a16="http://schemas.microsoft.com/office/drawing/2014/main" id="{5475EFFF-CFAF-7BEE-7D61-0583AA915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CC93E285-8191-98FB-4787-95AC0F2B1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94A"/>
                </a:solidFill>
              </a:rPr>
              <a:t>Desarrollar</a:t>
            </a:r>
            <a:r>
              <a:rPr lang="en-US" dirty="0">
                <a:solidFill>
                  <a:srgbClr val="00094A"/>
                </a:solidFill>
              </a:rPr>
              <a:t> un </a:t>
            </a:r>
            <a:r>
              <a:rPr lang="en-US" dirty="0" err="1">
                <a:solidFill>
                  <a:srgbClr val="00094A"/>
                </a:solidFill>
              </a:rPr>
              <a:t>modelo</a:t>
            </a:r>
            <a:r>
              <a:rPr lang="en-US" dirty="0">
                <a:solidFill>
                  <a:srgbClr val="00094A"/>
                </a:solidFill>
              </a:rPr>
              <a:t> de datos </a:t>
            </a:r>
            <a:r>
              <a:rPr lang="en-US" dirty="0" err="1">
                <a:solidFill>
                  <a:srgbClr val="00094A"/>
                </a:solidFill>
              </a:rPr>
              <a:t>predictivo</a:t>
            </a:r>
            <a:r>
              <a:rPr lang="en-US" dirty="0">
                <a:solidFill>
                  <a:srgbClr val="00094A"/>
                </a:solidFill>
              </a:rPr>
              <a:t> del </a:t>
            </a:r>
            <a:r>
              <a:rPr lang="en-US" dirty="0" err="1">
                <a:solidFill>
                  <a:srgbClr val="00094A"/>
                </a:solidFill>
              </a:rPr>
              <a:t>desarrollo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neurológico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cognitivo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basado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en</a:t>
            </a:r>
            <a:r>
              <a:rPr lang="en-US" dirty="0">
                <a:solidFill>
                  <a:srgbClr val="00094A"/>
                </a:solidFill>
              </a:rPr>
              <a:t> variables </a:t>
            </a:r>
            <a:r>
              <a:rPr lang="en-US" dirty="0" err="1">
                <a:solidFill>
                  <a:srgbClr val="00094A"/>
                </a:solidFill>
              </a:rPr>
              <a:t>iniciales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exposición</a:t>
            </a:r>
            <a:r>
              <a:rPr lang="en-US" dirty="0">
                <a:solidFill>
                  <a:srgbClr val="00094A"/>
                </a:solidFill>
              </a:rPr>
              <a:t> al MMC.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1379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C893140-CB4F-51C7-7E03-24BC3A16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>
            <a:extLst>
              <a:ext uri="{FF2B5EF4-FFF2-40B4-BE49-F238E27FC236}">
                <a16:creationId xmlns:a16="http://schemas.microsoft.com/office/drawing/2014/main" id="{A1E336A1-64BF-1F28-87A4-3951AB824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E86F6286-AEC2-BA82-7178-3F6CBDEF1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94A"/>
                </a:solidFill>
              </a:rPr>
              <a:t>Desarrollar</a:t>
            </a:r>
            <a:r>
              <a:rPr lang="en-US" dirty="0">
                <a:solidFill>
                  <a:srgbClr val="00094A"/>
                </a:solidFill>
              </a:rPr>
              <a:t> un </a:t>
            </a:r>
            <a:r>
              <a:rPr lang="en-US" dirty="0" err="1">
                <a:solidFill>
                  <a:srgbClr val="00094A"/>
                </a:solidFill>
              </a:rPr>
              <a:t>modelo</a:t>
            </a:r>
            <a:r>
              <a:rPr lang="en-US" dirty="0">
                <a:solidFill>
                  <a:srgbClr val="00094A"/>
                </a:solidFill>
              </a:rPr>
              <a:t> de datos </a:t>
            </a:r>
            <a:r>
              <a:rPr lang="en-US" dirty="0" err="1">
                <a:solidFill>
                  <a:srgbClr val="00094A"/>
                </a:solidFill>
              </a:rPr>
              <a:t>predictivo</a:t>
            </a:r>
            <a:r>
              <a:rPr lang="en-US" dirty="0">
                <a:solidFill>
                  <a:srgbClr val="00094A"/>
                </a:solidFill>
              </a:rPr>
              <a:t> del </a:t>
            </a:r>
            <a:r>
              <a:rPr lang="en-US" dirty="0" err="1">
                <a:solidFill>
                  <a:srgbClr val="00094A"/>
                </a:solidFill>
              </a:rPr>
              <a:t>desarrollo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neurológico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cognitivo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basado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en</a:t>
            </a:r>
            <a:r>
              <a:rPr lang="en-US" dirty="0">
                <a:solidFill>
                  <a:srgbClr val="00094A"/>
                </a:solidFill>
              </a:rPr>
              <a:t> variables </a:t>
            </a:r>
            <a:r>
              <a:rPr lang="en-US" dirty="0" err="1">
                <a:solidFill>
                  <a:srgbClr val="00094A"/>
                </a:solidFill>
              </a:rPr>
              <a:t>iniciales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exposición</a:t>
            </a:r>
            <a:r>
              <a:rPr lang="en-US" dirty="0">
                <a:solidFill>
                  <a:srgbClr val="00094A"/>
                </a:solidFill>
              </a:rPr>
              <a:t> al MMC.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2238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0199818-7F48-0347-B171-44CF1B2D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>
            <a:extLst>
              <a:ext uri="{FF2B5EF4-FFF2-40B4-BE49-F238E27FC236}">
                <a16:creationId xmlns:a16="http://schemas.microsoft.com/office/drawing/2014/main" id="{E343AED3-0561-3BE6-1D58-63FBCB587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528AF061-02BA-972F-38FB-8CA2C80CA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94A"/>
                </a:solidFill>
              </a:rPr>
              <a:t>Desarrollar</a:t>
            </a:r>
            <a:r>
              <a:rPr lang="en-US" dirty="0">
                <a:solidFill>
                  <a:srgbClr val="00094A"/>
                </a:solidFill>
              </a:rPr>
              <a:t> un </a:t>
            </a:r>
            <a:r>
              <a:rPr lang="en-US" dirty="0" err="1">
                <a:solidFill>
                  <a:srgbClr val="00094A"/>
                </a:solidFill>
              </a:rPr>
              <a:t>modelo</a:t>
            </a:r>
            <a:r>
              <a:rPr lang="en-US" dirty="0">
                <a:solidFill>
                  <a:srgbClr val="00094A"/>
                </a:solidFill>
              </a:rPr>
              <a:t> de datos </a:t>
            </a:r>
            <a:r>
              <a:rPr lang="en-US" dirty="0" err="1">
                <a:solidFill>
                  <a:srgbClr val="00094A"/>
                </a:solidFill>
              </a:rPr>
              <a:t>predictivo</a:t>
            </a:r>
            <a:r>
              <a:rPr lang="en-US" dirty="0">
                <a:solidFill>
                  <a:srgbClr val="00094A"/>
                </a:solidFill>
              </a:rPr>
              <a:t> del </a:t>
            </a:r>
            <a:r>
              <a:rPr lang="en-US" dirty="0" err="1">
                <a:solidFill>
                  <a:srgbClr val="00094A"/>
                </a:solidFill>
              </a:rPr>
              <a:t>desarrollo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neurológico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cognitivo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basado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en</a:t>
            </a:r>
            <a:r>
              <a:rPr lang="en-US" dirty="0">
                <a:solidFill>
                  <a:srgbClr val="00094A"/>
                </a:solidFill>
              </a:rPr>
              <a:t> variables </a:t>
            </a:r>
            <a:r>
              <a:rPr lang="en-US" dirty="0" err="1">
                <a:solidFill>
                  <a:srgbClr val="00094A"/>
                </a:solidFill>
              </a:rPr>
              <a:t>iniciales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exposición</a:t>
            </a:r>
            <a:r>
              <a:rPr lang="en-US" dirty="0">
                <a:solidFill>
                  <a:srgbClr val="00094A"/>
                </a:solidFill>
              </a:rPr>
              <a:t> al MMC.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6552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C893140-CB4F-51C7-7E03-24BC3A16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>
            <a:extLst>
              <a:ext uri="{FF2B5EF4-FFF2-40B4-BE49-F238E27FC236}">
                <a16:creationId xmlns:a16="http://schemas.microsoft.com/office/drawing/2014/main" id="{A1E336A1-64BF-1F28-87A4-3951AB824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E86F6286-AEC2-BA82-7178-3F6CBDEF1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94A"/>
                </a:solidFill>
              </a:rPr>
              <a:t>Desarrollar</a:t>
            </a:r>
            <a:r>
              <a:rPr lang="en-US" dirty="0">
                <a:solidFill>
                  <a:srgbClr val="00094A"/>
                </a:solidFill>
              </a:rPr>
              <a:t> un </a:t>
            </a:r>
            <a:r>
              <a:rPr lang="en-US" dirty="0" err="1">
                <a:solidFill>
                  <a:srgbClr val="00094A"/>
                </a:solidFill>
              </a:rPr>
              <a:t>modelo</a:t>
            </a:r>
            <a:r>
              <a:rPr lang="en-US" dirty="0">
                <a:solidFill>
                  <a:srgbClr val="00094A"/>
                </a:solidFill>
              </a:rPr>
              <a:t> de datos </a:t>
            </a:r>
            <a:r>
              <a:rPr lang="en-US" dirty="0" err="1">
                <a:solidFill>
                  <a:srgbClr val="00094A"/>
                </a:solidFill>
              </a:rPr>
              <a:t>predictivo</a:t>
            </a:r>
            <a:r>
              <a:rPr lang="en-US" dirty="0">
                <a:solidFill>
                  <a:srgbClr val="00094A"/>
                </a:solidFill>
              </a:rPr>
              <a:t> del </a:t>
            </a:r>
            <a:r>
              <a:rPr lang="en-US" dirty="0" err="1">
                <a:solidFill>
                  <a:srgbClr val="00094A"/>
                </a:solidFill>
              </a:rPr>
              <a:t>desarrollo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neurológico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cognitivo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basado</a:t>
            </a:r>
            <a:r>
              <a:rPr lang="en-US" dirty="0">
                <a:solidFill>
                  <a:srgbClr val="00094A"/>
                </a:solidFill>
              </a:rPr>
              <a:t> </a:t>
            </a:r>
            <a:r>
              <a:rPr lang="en-US" dirty="0" err="1">
                <a:solidFill>
                  <a:srgbClr val="00094A"/>
                </a:solidFill>
              </a:rPr>
              <a:t>en</a:t>
            </a:r>
            <a:r>
              <a:rPr lang="en-US" dirty="0">
                <a:solidFill>
                  <a:srgbClr val="00094A"/>
                </a:solidFill>
              </a:rPr>
              <a:t> variables </a:t>
            </a:r>
            <a:r>
              <a:rPr lang="en-US" dirty="0" err="1">
                <a:solidFill>
                  <a:srgbClr val="00094A"/>
                </a:solidFill>
              </a:rPr>
              <a:t>iniciales</a:t>
            </a:r>
            <a:r>
              <a:rPr lang="en-US" dirty="0">
                <a:solidFill>
                  <a:srgbClr val="00094A"/>
                </a:solidFill>
              </a:rPr>
              <a:t> y </a:t>
            </a:r>
            <a:r>
              <a:rPr lang="en-US" dirty="0" err="1">
                <a:solidFill>
                  <a:srgbClr val="00094A"/>
                </a:solidFill>
              </a:rPr>
              <a:t>exposición</a:t>
            </a:r>
            <a:r>
              <a:rPr lang="en-US" dirty="0">
                <a:solidFill>
                  <a:srgbClr val="00094A"/>
                </a:solidFill>
              </a:rPr>
              <a:t> al MMC.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6856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1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13"/>
          <p:cNvGrpSpPr/>
          <p:nvPr/>
        </p:nvGrpSpPr>
        <p:grpSpPr>
          <a:xfrm>
            <a:off x="0" y="0"/>
            <a:ext cx="2263500" cy="1871400"/>
            <a:chOff x="0" y="0"/>
            <a:chExt cx="2263500" cy="1871400"/>
          </a:xfrm>
        </p:grpSpPr>
        <p:sp>
          <p:nvSpPr>
            <p:cNvPr id="16" name="Google Shape;16;p13"/>
            <p:cNvSpPr/>
            <p:nvPr/>
          </p:nvSpPr>
          <p:spPr>
            <a:xfrm>
              <a:off x="0" y="0"/>
              <a:ext cx="555600" cy="1871400"/>
            </a:xfrm>
            <a:prstGeom prst="rect">
              <a:avLst/>
            </a:prstGeom>
            <a:solidFill>
              <a:srgbClr val="63DBF5">
                <a:alpha val="6862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7" name="Google Shape;17;p13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8" name="Google Shape;18;p13"/>
          <p:cNvGrpSpPr/>
          <p:nvPr/>
        </p:nvGrpSpPr>
        <p:grpSpPr>
          <a:xfrm>
            <a:off x="-1404987" y="-1786325"/>
            <a:ext cx="11178725" cy="6927275"/>
            <a:chOff x="-1404987" y="-1786325"/>
            <a:chExt cx="11178725" cy="6927275"/>
          </a:xfrm>
        </p:grpSpPr>
        <p:sp>
          <p:nvSpPr>
            <p:cNvPr id="19" name="Google Shape;19;p13"/>
            <p:cNvSpPr/>
            <p:nvPr/>
          </p:nvSpPr>
          <p:spPr>
            <a:xfrm>
              <a:off x="-78450" y="45298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0" name="Google Shape;20;p13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21" name="Google Shape;21;p1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1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1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1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13"/>
            <p:cNvSpPr/>
            <p:nvPr/>
          </p:nvSpPr>
          <p:spPr>
            <a:xfrm rot="-5400000">
              <a:off x="7447913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722400" y="2086725"/>
            <a:ext cx="4136700" cy="1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5"/>
          <p:cNvGrpSpPr/>
          <p:nvPr/>
        </p:nvGrpSpPr>
        <p:grpSpPr>
          <a:xfrm>
            <a:off x="-313650" y="-25"/>
            <a:ext cx="9457650" cy="5143450"/>
            <a:chOff x="-313650" y="-25"/>
            <a:chExt cx="9457650" cy="5143450"/>
          </a:xfrm>
        </p:grpSpPr>
        <p:sp>
          <p:nvSpPr>
            <p:cNvPr id="82" name="Google Shape;82;p15"/>
            <p:cNvSpPr/>
            <p:nvPr/>
          </p:nvSpPr>
          <p:spPr>
            <a:xfrm rot="10800000">
              <a:off x="8676300" y="-25"/>
              <a:ext cx="467700" cy="1456800"/>
            </a:xfrm>
            <a:prstGeom prst="rect">
              <a:avLst/>
            </a:prstGeom>
            <a:solidFill>
              <a:srgbClr val="63DBF5">
                <a:alpha val="6862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-313650" y="46040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 flipH="1">
              <a:off x="5715000" y="4681725"/>
              <a:ext cx="3429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-1165287" y="-673237"/>
            <a:ext cx="1885275" cy="1884250"/>
            <a:chOff x="2609275" y="3149350"/>
            <a:chExt cx="1885275" cy="1884250"/>
          </a:xfrm>
        </p:grpSpPr>
        <p:sp>
          <p:nvSpPr>
            <p:cNvPr id="87" name="Google Shape;87;p15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9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122" name="Google Shape;122;p19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62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26" name="Google Shape;126;p19"/>
          <p:cNvGrpSpPr/>
          <p:nvPr/>
        </p:nvGrpSpPr>
        <p:grpSpPr>
          <a:xfrm>
            <a:off x="489563" y="-211525"/>
            <a:ext cx="8425112" cy="6291588"/>
            <a:chOff x="489563" y="-211525"/>
            <a:chExt cx="8425112" cy="6291588"/>
          </a:xfrm>
        </p:grpSpPr>
        <p:grpSp>
          <p:nvGrpSpPr>
            <p:cNvPr id="127" name="Google Shape;127;p19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128" name="Google Shape;128;p19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9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9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9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9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9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9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9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9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" name="Google Shape;147;p19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148" name="Google Shape;148;p19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19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" name="Google Shape;150;p19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1" name="Google Shape;151;p19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" name="Google Shape;152;p19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" name="Google Shape;153;p19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" name="Google Shape;154;p19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" name="Google Shape;155;p19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" name="Google Shape;156;p19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7" name="Google Shape;157;p19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" name="Google Shape;158;p19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9" name="Google Shape;159;p19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0" name="Google Shape;160;p19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1" name="Google Shape;161;p19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/>
          <p:nvPr/>
        </p:nvSpPr>
        <p:spPr>
          <a:xfrm flipH="1">
            <a:off x="5524419" y="4606920"/>
            <a:ext cx="3619432" cy="536463"/>
          </a:xfrm>
          <a:prstGeom prst="round1Rect">
            <a:avLst>
              <a:gd name="adj" fmla="val 50000"/>
            </a:avLst>
          </a:prstGeom>
          <a:solidFill>
            <a:srgbClr val="BFBFBF">
              <a:alpha val="6862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7" name="Google Shape;167;p1"/>
          <p:cNvSpPr txBox="1">
            <a:spLocks noGrp="1"/>
          </p:cNvSpPr>
          <p:nvPr>
            <p:ph type="ctrTitle"/>
          </p:nvPr>
        </p:nvSpPr>
        <p:spPr>
          <a:xfrm>
            <a:off x="1428734" y="2838956"/>
            <a:ext cx="6286531" cy="98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O" sz="2400" b="0"/>
              <a:t>Análisis de 70,000 Historias Clínicas del Programa Madre Canguro</a:t>
            </a:r>
            <a:endParaRPr sz="4100" b="0"/>
          </a:p>
        </p:txBody>
      </p:sp>
      <p:sp>
        <p:nvSpPr>
          <p:cNvPr id="168" name="Google Shape;168;p1"/>
          <p:cNvSpPr txBox="1">
            <a:spLocks noGrp="1"/>
          </p:cNvSpPr>
          <p:nvPr>
            <p:ph type="subTitle" idx="1"/>
          </p:nvPr>
        </p:nvSpPr>
        <p:spPr>
          <a:xfrm>
            <a:off x="2684819" y="4045342"/>
            <a:ext cx="3774359" cy="66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/>
              <a:t>Evaluación a los 12 meses de edad corregida</a:t>
            </a:r>
            <a:endParaRPr/>
          </a:p>
        </p:txBody>
      </p:sp>
      <p:sp>
        <p:nvSpPr>
          <p:cNvPr id="169" name="Google Shape;169;p1"/>
          <p:cNvSpPr/>
          <p:nvPr/>
        </p:nvSpPr>
        <p:spPr>
          <a:xfrm flipH="1">
            <a:off x="6158564" y="4160759"/>
            <a:ext cx="2985287" cy="982559"/>
          </a:xfrm>
          <a:prstGeom prst="round1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0" y="3272100"/>
            <a:ext cx="1255200" cy="1871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0" y="4829725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006DF5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72" name="Google Shape;172;p1"/>
          <p:cNvGrpSpPr/>
          <p:nvPr/>
        </p:nvGrpSpPr>
        <p:grpSpPr>
          <a:xfrm>
            <a:off x="-630087" y="1859288"/>
            <a:ext cx="1885275" cy="1884250"/>
            <a:chOff x="2609275" y="3149350"/>
            <a:chExt cx="1885275" cy="1884250"/>
          </a:xfrm>
        </p:grpSpPr>
        <p:sp>
          <p:nvSpPr>
            <p:cNvPr id="173" name="Google Shape;173;p1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1"/>
          <p:cNvSpPr/>
          <p:nvPr/>
        </p:nvSpPr>
        <p:spPr>
          <a:xfrm>
            <a:off x="7844125" y="896475"/>
            <a:ext cx="1882500" cy="213000"/>
          </a:xfrm>
          <a:prstGeom prst="roundRect">
            <a:avLst>
              <a:gd name="adj" fmla="val 50000"/>
            </a:avLst>
          </a:prstGeom>
          <a:solidFill>
            <a:srgbClr val="516CEE">
              <a:alpha val="6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1428735" y="1098157"/>
            <a:ext cx="6286531" cy="158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</a:pPr>
            <a:r>
              <a:rPr lang="es-CO" sz="36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CO" sz="3200" dirty="0"/>
              <a:t>Predicción Temprana de Riesgo Neurocognitivo en Neonatos</a:t>
            </a:r>
            <a:r>
              <a:rPr lang="es-CO" sz="3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1" title="18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99" y="88625"/>
            <a:ext cx="1956950" cy="5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dirty="0"/>
              <a:t>Contexto y Problemática</a:t>
            </a:r>
            <a:endParaRPr lang="es-ES" dirty="0">
              <a:latin typeface="Maven Pro"/>
            </a:endParaRPr>
          </a:p>
        </p:txBody>
      </p:sp>
      <p:sp>
        <p:nvSpPr>
          <p:cNvPr id="200" name="Google Shape;200;p2"/>
          <p:cNvSpPr txBox="1">
            <a:spLocks noGrp="1"/>
          </p:cNvSpPr>
          <p:nvPr>
            <p:ph type="body" idx="1"/>
          </p:nvPr>
        </p:nvSpPr>
        <p:spPr>
          <a:xfrm>
            <a:off x="722399" y="1488247"/>
            <a:ext cx="5429638" cy="2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b="1" i="1" dirty="0"/>
              <a:t>La Fundación </a:t>
            </a:r>
            <a:r>
              <a:rPr lang="en-US" b="1" i="1" dirty="0" err="1"/>
              <a:t>Canguro</a:t>
            </a:r>
            <a:r>
              <a:rPr lang="en-US" b="1" dirty="0"/>
              <a:t> </a:t>
            </a:r>
            <a:r>
              <a:rPr lang="en-US" b="1" dirty="0" err="1"/>
              <a:t>promueve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</a:t>
            </a:r>
            <a:r>
              <a:rPr lang="en-US" b="1" dirty="0" err="1"/>
              <a:t>Método</a:t>
            </a:r>
            <a:r>
              <a:rPr lang="en-US" b="1" dirty="0"/>
              <a:t> Madre </a:t>
            </a:r>
            <a:r>
              <a:rPr lang="en-US" b="1" dirty="0" err="1"/>
              <a:t>Canguro</a:t>
            </a:r>
            <a:r>
              <a:rPr lang="en-US" b="1" dirty="0"/>
              <a:t> (MMC):</a:t>
            </a:r>
            <a:endParaRPr lang="es-ES" dirty="0"/>
          </a:p>
          <a:p>
            <a:pPr marL="285750" indent="-285750"/>
            <a:r>
              <a:rPr lang="en-US" dirty="0"/>
              <a:t>Contacto </a:t>
            </a:r>
            <a:r>
              <a:rPr lang="es-ES_tradnl" dirty="0"/>
              <a:t>piel</a:t>
            </a:r>
            <a:r>
              <a:rPr lang="en-US" dirty="0"/>
              <a:t> a piel</a:t>
            </a:r>
          </a:p>
          <a:p>
            <a:pPr marL="285750" indent="-285750"/>
            <a:r>
              <a:rPr lang="en-US" dirty="0" err="1"/>
              <a:t>Lactancia</a:t>
            </a:r>
            <a:r>
              <a:rPr lang="en-US" dirty="0"/>
              <a:t> </a:t>
            </a:r>
            <a:r>
              <a:rPr lang="en-US" dirty="0" err="1"/>
              <a:t>materna</a:t>
            </a:r>
            <a:r>
              <a:rPr lang="en-US" dirty="0"/>
              <a:t> </a:t>
            </a:r>
            <a:r>
              <a:rPr lang="en-US" dirty="0" err="1"/>
              <a:t>exclusiva</a:t>
            </a:r>
            <a:endParaRPr lang="en-US" dirty="0"/>
          </a:p>
          <a:p>
            <a:pPr marL="285750" indent="-285750"/>
            <a:r>
              <a:rPr lang="en-US" dirty="0" err="1"/>
              <a:t>Seguimiento</a:t>
            </a:r>
            <a:r>
              <a:rPr lang="en-US" dirty="0"/>
              <a:t> </a:t>
            </a:r>
            <a:r>
              <a:rPr lang="en-US" dirty="0" err="1"/>
              <a:t>médico</a:t>
            </a:r>
            <a:r>
              <a:rPr lang="en-US" dirty="0"/>
              <a:t> </a:t>
            </a:r>
            <a:r>
              <a:rPr lang="en-US" dirty="0" err="1"/>
              <a:t>temprano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Problema:</a:t>
            </a:r>
            <a:r>
              <a:rPr lang="en-US" dirty="0"/>
              <a:t> </a:t>
            </a:r>
            <a:r>
              <a:rPr lang="es-CO" dirty="0"/>
              <a:t>Necesidad de identificar anticipadamente a bebés con riesgo de alteraciones neurológicas (INFANIB) o cognitivas (IQ &lt; 85) al año de edad.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CO" b="1" dirty="0"/>
              <a:t>El Objetivo:</a:t>
            </a:r>
            <a:r>
              <a:rPr lang="es-CO" dirty="0"/>
              <a:t> Construir un modelo predictivo para optimizar el seguimiento médico y los recursos de intervención.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ES" dirty="0"/>
          </a:p>
          <a:p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grpSp>
        <p:nvGrpSpPr>
          <p:cNvPr id="201" name="Google Shape;201;p2"/>
          <p:cNvGrpSpPr/>
          <p:nvPr/>
        </p:nvGrpSpPr>
        <p:grpSpPr>
          <a:xfrm>
            <a:off x="5309025" y="1748650"/>
            <a:ext cx="3834975" cy="3394725"/>
            <a:chOff x="5309025" y="1748650"/>
            <a:chExt cx="3834975" cy="3394725"/>
          </a:xfrm>
        </p:grpSpPr>
        <p:sp>
          <p:nvSpPr>
            <p:cNvPr id="202" name="Google Shape;202;p2"/>
            <p:cNvSpPr/>
            <p:nvPr/>
          </p:nvSpPr>
          <p:spPr>
            <a:xfrm flipH="1">
              <a:off x="6093300" y="2443375"/>
              <a:ext cx="3050700" cy="2700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530902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04" name="Google Shape;204;p2"/>
            <p:cNvGrpSpPr/>
            <p:nvPr/>
          </p:nvGrpSpPr>
          <p:grpSpPr>
            <a:xfrm>
              <a:off x="7041175" y="1748650"/>
              <a:ext cx="986125" cy="2095500"/>
              <a:chOff x="7631225" y="2241175"/>
              <a:chExt cx="986125" cy="2095500"/>
            </a:xfrm>
          </p:grpSpPr>
          <p:cxnSp>
            <p:nvCxnSpPr>
              <p:cNvPr id="205" name="Google Shape;205;p2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2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2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p2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2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2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2" name="Google Shape;212;p2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p2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p2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" name="Google Shape;215;p2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" name="Google Shape;216;p2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" name="Google Shape;217;p2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" name="Google Shape;218;p2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Google Shape;275;p6">
            <a:extLst>
              <a:ext uri="{FF2B5EF4-FFF2-40B4-BE49-F238E27FC236}">
                <a16:creationId xmlns:a16="http://schemas.microsoft.com/office/drawing/2014/main" id="{82808CCF-B6AB-509D-56D9-4A71826EBC19}"/>
              </a:ext>
            </a:extLst>
          </p:cNvPr>
          <p:cNvSpPr txBox="1"/>
          <p:nvPr/>
        </p:nvSpPr>
        <p:spPr>
          <a:xfrm>
            <a:off x="720000" y="1112200"/>
            <a:ext cx="77040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Maven Pro"/>
                <a:sym typeface="Maven Pro"/>
              </a:rPr>
              <a:t>Contexto:</a:t>
            </a:r>
            <a:endParaRPr>
              <a:latin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6E63A5F9-3D16-5AD2-FB83-53FA0ACE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>
            <a:extLst>
              <a:ext uri="{FF2B5EF4-FFF2-40B4-BE49-F238E27FC236}">
                <a16:creationId xmlns:a16="http://schemas.microsoft.com/office/drawing/2014/main" id="{E97CEEED-6531-21FA-2E33-D6165F6C4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dirty="0"/>
              <a:t>El Desafío de los Datos</a:t>
            </a:r>
            <a:endParaRPr lang="es-ES" dirty="0">
              <a:latin typeface="Maven Pro"/>
            </a:endParaRPr>
          </a:p>
        </p:txBody>
      </p:sp>
      <p:grpSp>
        <p:nvGrpSpPr>
          <p:cNvPr id="201" name="Google Shape;201;p2">
            <a:extLst>
              <a:ext uri="{FF2B5EF4-FFF2-40B4-BE49-F238E27FC236}">
                <a16:creationId xmlns:a16="http://schemas.microsoft.com/office/drawing/2014/main" id="{EA98355C-99B7-4B2B-283B-F3EB0ACA8480}"/>
              </a:ext>
            </a:extLst>
          </p:cNvPr>
          <p:cNvGrpSpPr/>
          <p:nvPr/>
        </p:nvGrpSpPr>
        <p:grpSpPr>
          <a:xfrm>
            <a:off x="5309025" y="1748650"/>
            <a:ext cx="3834975" cy="3394725"/>
            <a:chOff x="5309025" y="1748650"/>
            <a:chExt cx="3834975" cy="3394725"/>
          </a:xfrm>
        </p:grpSpPr>
        <p:sp>
          <p:nvSpPr>
            <p:cNvPr id="202" name="Google Shape;202;p2">
              <a:extLst>
                <a:ext uri="{FF2B5EF4-FFF2-40B4-BE49-F238E27FC236}">
                  <a16:creationId xmlns:a16="http://schemas.microsoft.com/office/drawing/2014/main" id="{63C04221-D1ED-80DA-1E86-130B4ABA0C1D}"/>
                </a:ext>
              </a:extLst>
            </p:cNvPr>
            <p:cNvSpPr/>
            <p:nvPr/>
          </p:nvSpPr>
          <p:spPr>
            <a:xfrm flipH="1">
              <a:off x="6093300" y="2443375"/>
              <a:ext cx="3050700" cy="2700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03" name="Google Shape;203;p2">
              <a:extLst>
                <a:ext uri="{FF2B5EF4-FFF2-40B4-BE49-F238E27FC236}">
                  <a16:creationId xmlns:a16="http://schemas.microsoft.com/office/drawing/2014/main" id="{9809C13C-B9FD-ADA5-A3C9-BDB7A74F152C}"/>
                </a:ext>
              </a:extLst>
            </p:cNvPr>
            <p:cNvSpPr/>
            <p:nvPr/>
          </p:nvSpPr>
          <p:spPr>
            <a:xfrm>
              <a:off x="530902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04" name="Google Shape;204;p2">
              <a:extLst>
                <a:ext uri="{FF2B5EF4-FFF2-40B4-BE49-F238E27FC236}">
                  <a16:creationId xmlns:a16="http://schemas.microsoft.com/office/drawing/2014/main" id="{E6007515-7F05-1A2F-B96F-36DC25222A4E}"/>
                </a:ext>
              </a:extLst>
            </p:cNvPr>
            <p:cNvGrpSpPr/>
            <p:nvPr/>
          </p:nvGrpSpPr>
          <p:grpSpPr>
            <a:xfrm>
              <a:off x="7041175" y="1748650"/>
              <a:ext cx="986125" cy="2095500"/>
              <a:chOff x="7631225" y="2241175"/>
              <a:chExt cx="986125" cy="2095500"/>
            </a:xfrm>
          </p:grpSpPr>
          <p:cxnSp>
            <p:nvCxnSpPr>
              <p:cNvPr id="205" name="Google Shape;205;p2">
                <a:extLst>
                  <a:ext uri="{FF2B5EF4-FFF2-40B4-BE49-F238E27FC236}">
                    <a16:creationId xmlns:a16="http://schemas.microsoft.com/office/drawing/2014/main" id="{1D05380B-EF24-A923-0EC9-A4C63F2E2772}"/>
                  </a:ext>
                </a:extLst>
              </p:cNvPr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2">
                <a:extLst>
                  <a:ext uri="{FF2B5EF4-FFF2-40B4-BE49-F238E27FC236}">
                    <a16:creationId xmlns:a16="http://schemas.microsoft.com/office/drawing/2014/main" id="{445972AA-210C-97B5-233D-928F5C57B59B}"/>
                  </a:ext>
                </a:extLst>
              </p:cNvPr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2">
                <a:extLst>
                  <a:ext uri="{FF2B5EF4-FFF2-40B4-BE49-F238E27FC236}">
                    <a16:creationId xmlns:a16="http://schemas.microsoft.com/office/drawing/2014/main" id="{CF4A8F49-607D-3FA4-0397-C3BA24E35609}"/>
                  </a:ext>
                </a:extLst>
              </p:cNvPr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">
                <a:extLst>
                  <a:ext uri="{FF2B5EF4-FFF2-40B4-BE49-F238E27FC236}">
                    <a16:creationId xmlns:a16="http://schemas.microsoft.com/office/drawing/2014/main" id="{C51E3A98-CBB2-15F5-511E-B996188E3C6D}"/>
                  </a:ext>
                </a:extLst>
              </p:cNvPr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p2">
                <a:extLst>
                  <a:ext uri="{FF2B5EF4-FFF2-40B4-BE49-F238E27FC236}">
                    <a16:creationId xmlns:a16="http://schemas.microsoft.com/office/drawing/2014/main" id="{5AA9E299-2701-6F87-BB95-591C21FC1D94}"/>
                  </a:ext>
                </a:extLst>
              </p:cNvPr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2">
                <a:extLst>
                  <a:ext uri="{FF2B5EF4-FFF2-40B4-BE49-F238E27FC236}">
                    <a16:creationId xmlns:a16="http://schemas.microsoft.com/office/drawing/2014/main" id="{7B24199F-ED0B-D795-21A4-5F115034AC14}"/>
                  </a:ext>
                </a:extLst>
              </p:cNvPr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2">
                <a:extLst>
                  <a:ext uri="{FF2B5EF4-FFF2-40B4-BE49-F238E27FC236}">
                    <a16:creationId xmlns:a16="http://schemas.microsoft.com/office/drawing/2014/main" id="{3D1E2B42-1ECA-DCD1-3161-4177AF20F7A5}"/>
                  </a:ext>
                </a:extLst>
              </p:cNvPr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2" name="Google Shape;212;p2">
                <a:extLst>
                  <a:ext uri="{FF2B5EF4-FFF2-40B4-BE49-F238E27FC236}">
                    <a16:creationId xmlns:a16="http://schemas.microsoft.com/office/drawing/2014/main" id="{19E32A3F-8F6D-3ACE-2774-6D2C24740DEB}"/>
                  </a:ext>
                </a:extLst>
              </p:cNvPr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p2">
                <a:extLst>
                  <a:ext uri="{FF2B5EF4-FFF2-40B4-BE49-F238E27FC236}">
                    <a16:creationId xmlns:a16="http://schemas.microsoft.com/office/drawing/2014/main" id="{E20B519B-81F9-A849-09B4-A3F578F83AAA}"/>
                  </a:ext>
                </a:extLst>
              </p:cNvPr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p2">
                <a:extLst>
                  <a:ext uri="{FF2B5EF4-FFF2-40B4-BE49-F238E27FC236}">
                    <a16:creationId xmlns:a16="http://schemas.microsoft.com/office/drawing/2014/main" id="{E7CA3955-6856-A1E9-389D-AC5BD6D702C1}"/>
                  </a:ext>
                </a:extLst>
              </p:cNvPr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" name="Google Shape;215;p2">
                <a:extLst>
                  <a:ext uri="{FF2B5EF4-FFF2-40B4-BE49-F238E27FC236}">
                    <a16:creationId xmlns:a16="http://schemas.microsoft.com/office/drawing/2014/main" id="{82D6FC9C-9256-8386-4E55-BD8664308B4B}"/>
                  </a:ext>
                </a:extLst>
              </p:cNvPr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" name="Google Shape;216;p2">
                <a:extLst>
                  <a:ext uri="{FF2B5EF4-FFF2-40B4-BE49-F238E27FC236}">
                    <a16:creationId xmlns:a16="http://schemas.microsoft.com/office/drawing/2014/main" id="{15265A60-7C50-9553-6C91-A95AD4BDF497}"/>
                  </a:ext>
                </a:extLst>
              </p:cNvPr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" name="Google Shape;217;p2">
                <a:extLst>
                  <a:ext uri="{FF2B5EF4-FFF2-40B4-BE49-F238E27FC236}">
                    <a16:creationId xmlns:a16="http://schemas.microsoft.com/office/drawing/2014/main" id="{3441D00E-C12A-683E-C52D-38A1FBE5B1E5}"/>
                  </a:ext>
                </a:extLst>
              </p:cNvPr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" name="Google Shape;218;p2">
                <a:extLst>
                  <a:ext uri="{FF2B5EF4-FFF2-40B4-BE49-F238E27FC236}">
                    <a16:creationId xmlns:a16="http://schemas.microsoft.com/office/drawing/2014/main" id="{B8A97D7B-69AD-4877-C1C7-89B7B55BA406}"/>
                  </a:ext>
                </a:extLst>
              </p:cNvPr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Google Shape;275;p6">
            <a:extLst>
              <a:ext uri="{FF2B5EF4-FFF2-40B4-BE49-F238E27FC236}">
                <a16:creationId xmlns:a16="http://schemas.microsoft.com/office/drawing/2014/main" id="{4A57F00B-6248-FF53-2756-C86BB73E7CC8}"/>
              </a:ext>
            </a:extLst>
          </p:cNvPr>
          <p:cNvSpPr txBox="1"/>
          <p:nvPr/>
        </p:nvSpPr>
        <p:spPr>
          <a:xfrm>
            <a:off x="720000" y="1117541"/>
            <a:ext cx="6293944" cy="304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es-CO" b="1" dirty="0"/>
              <a:t>Volumen:</a:t>
            </a:r>
            <a:r>
              <a:rPr lang="es-CO" dirty="0"/>
              <a:t> +70,000 historias clínicas.</a:t>
            </a:r>
          </a:p>
          <a:p>
            <a:r>
              <a:rPr lang="es-CO" b="1" dirty="0"/>
              <a:t>Complejidad:</a:t>
            </a:r>
            <a:r>
              <a:rPr lang="es-CO" dirty="0"/>
              <a:t> </a:t>
            </a:r>
            <a:r>
              <a:rPr lang="es-CO" b="1" dirty="0"/>
              <a:t>753 Variables</a:t>
            </a:r>
            <a:r>
              <a:rPr lang="es-CO" dirty="0"/>
              <a:t> por registro.</a:t>
            </a:r>
          </a:p>
          <a:p>
            <a:r>
              <a:rPr lang="es-CO" b="1" dirty="0"/>
              <a:t>El Reto Principal:</a:t>
            </a:r>
            <a:r>
              <a:rPr lang="es-CO" dirty="0"/>
              <a:t> Desbalance Extremo de Clases </a:t>
            </a:r>
            <a:r>
              <a:rPr lang="es-CO" b="1" dirty="0"/>
              <a:t>(19:1)</a:t>
            </a:r>
            <a:r>
              <a:rPr lang="es-CO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Por cada 19 niños sanos, solo 1 presenta riesgo real.</a:t>
            </a:r>
          </a:p>
          <a:p>
            <a:pPr>
              <a:buFont typeface="Arial" panose="020B0604020202020204" pitchFamily="34" charset="0"/>
              <a:buChar char="•"/>
            </a:pPr>
            <a:endParaRPr lang="es-CO" sz="1600" dirty="0"/>
          </a:p>
          <a:p>
            <a:endParaRPr lang="es-CO" sz="1600" dirty="0"/>
          </a:p>
          <a:p>
            <a:endParaRPr lang="en-US" sz="1200" b="1" dirty="0">
              <a:solidFill>
                <a:schemeClr val="dk1"/>
              </a:solidFill>
              <a:latin typeface="Maven Pro"/>
              <a:sym typeface="Maven Pro"/>
            </a:endParaRPr>
          </a:p>
          <a:p>
            <a:endParaRPr lang="en-US" sz="1200" dirty="0">
              <a:solidFill>
                <a:schemeClr val="dk1"/>
              </a:solidFill>
              <a:latin typeface="Maven Pr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ED1B5B-8E65-3541-0CC0-D7031B0B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62" y="2223190"/>
            <a:ext cx="2516538" cy="194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61D09AB3-B266-C6B0-F590-7870C103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>
            <a:extLst>
              <a:ext uri="{FF2B5EF4-FFF2-40B4-BE49-F238E27FC236}">
                <a16:creationId xmlns:a16="http://schemas.microsoft.com/office/drawing/2014/main" id="{54726687-57DF-079C-9391-BF853ABBFB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dirty="0"/>
              <a:t>Estrategia Analítica (La Solución)</a:t>
            </a:r>
            <a:endParaRPr lang="es-ES" dirty="0">
              <a:latin typeface="Maven Pro"/>
            </a:endParaRPr>
          </a:p>
        </p:txBody>
      </p:sp>
      <p:sp>
        <p:nvSpPr>
          <p:cNvPr id="3" name="Google Shape;275;p6">
            <a:extLst>
              <a:ext uri="{FF2B5EF4-FFF2-40B4-BE49-F238E27FC236}">
                <a16:creationId xmlns:a16="http://schemas.microsoft.com/office/drawing/2014/main" id="{7D7BFAE5-55D5-E0B0-2914-ABFABE5545DA}"/>
              </a:ext>
            </a:extLst>
          </p:cNvPr>
          <p:cNvSpPr txBox="1"/>
          <p:nvPr/>
        </p:nvSpPr>
        <p:spPr>
          <a:xfrm>
            <a:off x="720000" y="1117541"/>
            <a:ext cx="6293944" cy="304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es-CO" b="1" dirty="0"/>
              <a:t>Gestión del Desbalance:</a:t>
            </a:r>
            <a:r>
              <a:rPr lang="es-CO" dirty="0"/>
              <a:t> Implementación de </a:t>
            </a:r>
          </a:p>
          <a:p>
            <a:r>
              <a:rPr lang="es-CO" b="1" dirty="0"/>
              <a:t>Muestreo Híbrido</a:t>
            </a:r>
            <a:r>
              <a:rPr lang="es-CO" dirty="0"/>
              <a:t>:</a:t>
            </a:r>
          </a:p>
          <a:p>
            <a:pPr>
              <a:buFont typeface="+mj-lt"/>
              <a:buAutoNum type="arabicPeriod"/>
            </a:pPr>
            <a:r>
              <a:rPr lang="es-CO" b="1" dirty="0"/>
              <a:t>Undersampling:</a:t>
            </a:r>
            <a:r>
              <a:rPr lang="es-CO" dirty="0"/>
              <a:t> Reducir la clase mayoritaria (filtro de ruido).</a:t>
            </a:r>
          </a:p>
          <a:p>
            <a:pPr>
              <a:buFont typeface="+mj-lt"/>
              <a:buAutoNum type="arabicPeriod"/>
            </a:pPr>
            <a:r>
              <a:rPr lang="es-CO" b="1" dirty="0"/>
              <a:t>SMOTE:</a:t>
            </a:r>
            <a:r>
              <a:rPr lang="es-CO" dirty="0"/>
              <a:t> Generación de datos sintéticos para potenciar la clase de riesgo.</a:t>
            </a:r>
          </a:p>
          <a:p>
            <a:r>
              <a:rPr lang="es-CO" b="1" dirty="0"/>
              <a:t>Algoritmos Probados:</a:t>
            </a:r>
            <a:r>
              <a:rPr lang="es-CO" dirty="0"/>
              <a:t> XGBoost, </a:t>
            </a:r>
            <a:r>
              <a:rPr lang="es-CO" dirty="0" err="1"/>
              <a:t>Random</a:t>
            </a:r>
            <a:r>
              <a:rPr lang="es-CO" dirty="0"/>
              <a:t> Forest y Regresión Logística.</a:t>
            </a:r>
          </a:p>
          <a:p>
            <a:endParaRPr lang="es-ES" dirty="0">
              <a:solidFill>
                <a:schemeClr val="dk1"/>
              </a:solidFill>
              <a:latin typeface="Maven Pro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E3E5C8-F18C-A1DE-2180-E4F162B59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64" y="2571750"/>
            <a:ext cx="7293871" cy="167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3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4DBD262C-2A3D-3D4D-8F0A-B92BC4BC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>
            <a:extLst>
              <a:ext uri="{FF2B5EF4-FFF2-40B4-BE49-F238E27FC236}">
                <a16:creationId xmlns:a16="http://schemas.microsoft.com/office/drawing/2014/main" id="{D538A794-BA31-7CC2-987A-CB20507F8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dirty="0"/>
              <a:t>El Modelo Ganador </a:t>
            </a:r>
            <a:endParaRPr lang="es-ES" dirty="0">
              <a:latin typeface="Maven Pro"/>
            </a:endParaRPr>
          </a:p>
        </p:txBody>
      </p:sp>
      <p:sp>
        <p:nvSpPr>
          <p:cNvPr id="4" name="Google Shape;200;p2">
            <a:extLst>
              <a:ext uri="{FF2B5EF4-FFF2-40B4-BE49-F238E27FC236}">
                <a16:creationId xmlns:a16="http://schemas.microsoft.com/office/drawing/2014/main" id="{FC4D0F37-6001-8DFD-50E1-45F806AE6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99" y="2182592"/>
            <a:ext cx="7703747" cy="186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endParaRPr lang="en-US" b="1" dirty="0"/>
          </a:p>
          <a:p>
            <a:r>
              <a:rPr lang="es-CO" b="1" dirty="0"/>
              <a:t>Resultados de Rendimiento:</a:t>
            </a:r>
            <a:endParaRPr lang="es-CO" dirty="0"/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F1-Score:</a:t>
            </a:r>
            <a:r>
              <a:rPr lang="es-CO" dirty="0"/>
              <a:t> </a:t>
            </a:r>
            <a:r>
              <a:rPr lang="es-CO" b="1" dirty="0"/>
              <a:t>0.3228</a:t>
            </a:r>
            <a:r>
              <a:rPr lang="es-CO" dirty="0"/>
              <a:t> (Máximo alcanzado).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Precision:</a:t>
            </a:r>
            <a:r>
              <a:rPr lang="es-CO" dirty="0"/>
              <a:t> </a:t>
            </a:r>
            <a:r>
              <a:rPr lang="es-CO" b="1" dirty="0"/>
              <a:t>25.5%</a:t>
            </a:r>
            <a:r>
              <a:rPr lang="es-CO" dirty="0"/>
              <a:t> (Alta confiabilidad relativa).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Recall:</a:t>
            </a:r>
            <a:r>
              <a:rPr lang="es-CO" dirty="0"/>
              <a:t> </a:t>
            </a:r>
            <a:r>
              <a:rPr lang="es-CO" b="1" dirty="0"/>
              <a:t>43.8%</a:t>
            </a:r>
            <a:r>
              <a:rPr lang="es-CO" dirty="0"/>
              <a:t> (Capacidad de detección).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b="1" dirty="0"/>
              <a:t>AUC-ROC:</a:t>
            </a:r>
            <a:r>
              <a:rPr lang="es-CO" dirty="0"/>
              <a:t> </a:t>
            </a:r>
            <a:r>
              <a:rPr lang="es-CO" b="1" dirty="0"/>
              <a:t>0.85</a:t>
            </a:r>
            <a:r>
              <a:rPr lang="es-CO" dirty="0"/>
              <a:t> (Alto poder discriminatorio).</a:t>
            </a:r>
          </a:p>
          <a:p>
            <a:pPr>
              <a:buNone/>
            </a:pPr>
            <a:endParaRPr lang="en-US" b="1" dirty="0"/>
          </a:p>
        </p:txBody>
      </p:sp>
      <p:sp>
        <p:nvSpPr>
          <p:cNvPr id="6" name="Google Shape;275;p6">
            <a:extLst>
              <a:ext uri="{FF2B5EF4-FFF2-40B4-BE49-F238E27FC236}">
                <a16:creationId xmlns:a16="http://schemas.microsoft.com/office/drawing/2014/main" id="{2D7B025B-DFF8-05A0-3E4C-ACC411ADC6D6}"/>
              </a:ext>
            </a:extLst>
          </p:cNvPr>
          <p:cNvSpPr txBox="1"/>
          <p:nvPr/>
        </p:nvSpPr>
        <p:spPr>
          <a:xfrm>
            <a:off x="720000" y="1112200"/>
            <a:ext cx="77040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es-CO" b="1" dirty="0"/>
              <a:t>Algoritmo:</a:t>
            </a:r>
            <a:r>
              <a:rPr lang="es-CO" dirty="0"/>
              <a:t> </a:t>
            </a:r>
            <a:r>
              <a:rPr lang="es-CO" b="1" dirty="0"/>
              <a:t>XGBoost Híbrido Optimizado</a:t>
            </a:r>
            <a:r>
              <a:rPr lang="es-CO" dirty="0"/>
              <a:t>.</a:t>
            </a:r>
          </a:p>
          <a:p>
            <a:r>
              <a:rPr lang="es-CO" b="1" dirty="0"/>
              <a:t>Optimización Clave:</a:t>
            </a:r>
            <a:r>
              <a:rPr lang="es-CO" dirty="0"/>
              <a:t> Ajuste del </a:t>
            </a:r>
            <a:r>
              <a:rPr lang="es-CO" b="1" dirty="0"/>
              <a:t>Umbral de Decisión a 0.56</a:t>
            </a:r>
            <a:r>
              <a:rPr lang="es-CO" dirty="0"/>
              <a:t> (en lugar del estándar 0.50).</a:t>
            </a:r>
          </a:p>
          <a:p>
            <a:endParaRPr lang="es-ES" dirty="0">
              <a:solidFill>
                <a:schemeClr val="tx1"/>
              </a:solidFill>
              <a:latin typeface="Maven Pro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3A7EAD-0CF9-2957-F243-A8244EBDE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72" y="2182592"/>
            <a:ext cx="1541662" cy="124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FDD83119-82DD-0870-619B-80D8681D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>
            <a:extLst>
              <a:ext uri="{FF2B5EF4-FFF2-40B4-BE49-F238E27FC236}">
                <a16:creationId xmlns:a16="http://schemas.microsoft.com/office/drawing/2014/main" id="{677C4809-FC9A-D06F-47C3-D9E62F65B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/>
              <a:t>Interpretación: ¿Qué nos dicen los datos?</a:t>
            </a:r>
            <a:endParaRPr lang="es-ES" dirty="0">
              <a:latin typeface="Maven Pro"/>
            </a:endParaRPr>
          </a:p>
        </p:txBody>
      </p:sp>
      <p:sp>
        <p:nvSpPr>
          <p:cNvPr id="4" name="Google Shape;200;p2">
            <a:extLst>
              <a:ext uri="{FF2B5EF4-FFF2-40B4-BE49-F238E27FC236}">
                <a16:creationId xmlns:a16="http://schemas.microsoft.com/office/drawing/2014/main" id="{AE5C6E06-DABB-ADEA-319C-A604B2CB8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0114" y="1478800"/>
            <a:ext cx="7698406" cy="186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b="1" dirty="0"/>
              <a:t>Hallazgo Crítico:</a:t>
            </a:r>
            <a:r>
              <a:rPr lang="es-CO" dirty="0"/>
              <a:t> </a:t>
            </a:r>
            <a:r>
              <a:rPr lang="es-CO" sz="1100" dirty="0"/>
              <a:t>La </a:t>
            </a:r>
            <a:r>
              <a:rPr lang="es-CO" sz="1100" b="1" dirty="0"/>
              <a:t>calidad del dato</a:t>
            </a:r>
            <a:r>
              <a:rPr lang="es-CO" sz="1100" dirty="0"/>
              <a:t> es el mayor predictor.</a:t>
            </a:r>
          </a:p>
          <a:p>
            <a:pPr marL="152400" indent="0">
              <a:buNone/>
            </a:pPr>
            <a:endParaRPr lang="es-CO" sz="1100" dirty="0"/>
          </a:p>
          <a:p>
            <a:r>
              <a:rPr lang="es-CO" sz="1100" b="1" dirty="0"/>
              <a:t>Top Factores de Riesgo:</a:t>
            </a:r>
            <a:endParaRPr lang="es-CO" sz="1100" dirty="0"/>
          </a:p>
          <a:p>
            <a:pPr>
              <a:buFont typeface="+mj-lt"/>
              <a:buAutoNum type="arabicPeriod"/>
            </a:pPr>
            <a:r>
              <a:rPr lang="es-CO" sz="1100" b="1" dirty="0"/>
              <a:t>Variables #NULL!:</a:t>
            </a:r>
            <a:r>
              <a:rPr lang="es-CO" sz="1100" dirty="0"/>
              <a:t> La ausencia de registro en </a:t>
            </a:r>
            <a:r>
              <a:rPr lang="es-CO" sz="1100" b="1" dirty="0"/>
              <a:t>Ictericia, </a:t>
            </a:r>
            <a:r>
              <a:rPr lang="es-CO" sz="1100" b="1" dirty="0" err="1"/>
              <a:t>Sifilis</a:t>
            </a:r>
            <a:r>
              <a:rPr lang="es-CO" sz="1100" b="1" dirty="0"/>
              <a:t> y Oxígeno</a:t>
            </a:r>
            <a:r>
              <a:rPr lang="es-CO" sz="1100" dirty="0"/>
              <a:t> es el indicador #1 de riesgo.</a:t>
            </a:r>
          </a:p>
          <a:p>
            <a:pPr>
              <a:buFont typeface="+mj-lt"/>
              <a:buAutoNum type="arabicPeriod"/>
            </a:pPr>
            <a:r>
              <a:rPr lang="es-CO" sz="1100" b="1" dirty="0"/>
              <a:t>Factores Clínicos:</a:t>
            </a:r>
            <a:r>
              <a:rPr lang="es-CO" sz="1100" dirty="0"/>
              <a:t> Seguimiento neurológico (V10A), Apgar.</a:t>
            </a:r>
          </a:p>
          <a:p>
            <a:pPr>
              <a:buFont typeface="+mj-lt"/>
              <a:buAutoNum type="arabicPeriod"/>
            </a:pPr>
            <a:r>
              <a:rPr lang="es-CO" sz="1100" b="1" dirty="0"/>
              <a:t>Factores Sociales:</a:t>
            </a:r>
            <a:r>
              <a:rPr lang="es-CO" sz="1100" dirty="0"/>
              <a:t> Nutrición Familiar e IMC Materno.</a:t>
            </a:r>
          </a:p>
          <a:p>
            <a:pPr>
              <a:buNone/>
            </a:pPr>
            <a:endParaRPr lang="en-US" b="1" dirty="0"/>
          </a:p>
        </p:txBody>
      </p:sp>
      <p:sp>
        <p:nvSpPr>
          <p:cNvPr id="6" name="Google Shape;275;p6">
            <a:extLst>
              <a:ext uri="{FF2B5EF4-FFF2-40B4-BE49-F238E27FC236}">
                <a16:creationId xmlns:a16="http://schemas.microsoft.com/office/drawing/2014/main" id="{0E998AFA-5B15-56FA-271C-4EC40EA540BB}"/>
              </a:ext>
            </a:extLst>
          </p:cNvPr>
          <p:cNvSpPr txBox="1"/>
          <p:nvPr/>
        </p:nvSpPr>
        <p:spPr>
          <a:xfrm>
            <a:off x="720000" y="1112200"/>
            <a:ext cx="77040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93D5846-9BE7-BE60-C3DE-6F37DCADC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253" y="2825497"/>
            <a:ext cx="5359494" cy="200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6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dirty="0"/>
              <a:t>Arquitectura del Producto de Datos</a:t>
            </a:r>
            <a:endParaRPr dirty="0"/>
          </a:p>
        </p:txBody>
      </p:sp>
      <p:sp>
        <p:nvSpPr>
          <p:cNvPr id="224" name="Google Shape;224;p3"/>
          <p:cNvSpPr txBox="1">
            <a:spLocks noGrp="1"/>
          </p:cNvSpPr>
          <p:nvPr>
            <p:ph type="body" idx="1"/>
          </p:nvPr>
        </p:nvSpPr>
        <p:spPr>
          <a:xfrm>
            <a:off x="110026" y="3844150"/>
            <a:ext cx="4806861" cy="1437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sz="1000" b="1" dirty="0"/>
              <a:t>Infraestructura:</a:t>
            </a:r>
            <a:r>
              <a:rPr lang="es-CO" sz="1000" dirty="0"/>
              <a:t> AWS (Nube).</a:t>
            </a:r>
          </a:p>
          <a:p>
            <a:r>
              <a:rPr lang="es-CO" sz="1000" b="1" dirty="0"/>
              <a:t>Flujo:</a:t>
            </a:r>
            <a:endParaRPr lang="es-CO" sz="1000" dirty="0"/>
          </a:p>
          <a:p>
            <a:pPr>
              <a:buFont typeface="+mj-lt"/>
              <a:buAutoNum type="arabicPeriod"/>
            </a:pPr>
            <a:r>
              <a:rPr lang="es-CO" sz="1000" b="1" dirty="0"/>
              <a:t>S3 Buckets:</a:t>
            </a:r>
            <a:r>
              <a:rPr lang="es-CO" sz="1000" dirty="0"/>
              <a:t> Almacenamiento seguro (Crudo/Limpio).</a:t>
            </a:r>
          </a:p>
          <a:p>
            <a:pPr>
              <a:buFont typeface="+mj-lt"/>
              <a:buAutoNum type="arabicPeriod"/>
            </a:pPr>
            <a:r>
              <a:rPr lang="es-CO" sz="1000" b="1" dirty="0"/>
              <a:t>Procesamiento:</a:t>
            </a:r>
            <a:r>
              <a:rPr lang="es-CO" sz="1000" dirty="0"/>
              <a:t> Pipeline automatizado de limpieza.</a:t>
            </a:r>
          </a:p>
          <a:p>
            <a:pPr>
              <a:buFont typeface="+mj-lt"/>
              <a:buAutoNum type="arabicPeriod"/>
            </a:pPr>
            <a:r>
              <a:rPr lang="es-CO" sz="1000" b="1" dirty="0"/>
              <a:t>Inferencia:</a:t>
            </a:r>
            <a:r>
              <a:rPr lang="es-CO" sz="1000" dirty="0"/>
              <a:t> </a:t>
            </a:r>
            <a:r>
              <a:rPr lang="es-CO" sz="1000" b="1" dirty="0"/>
              <a:t>SageMaker</a:t>
            </a:r>
            <a:r>
              <a:rPr lang="es-CO" sz="1000" dirty="0"/>
              <a:t> ejecutando el modelo XGBoost.</a:t>
            </a:r>
          </a:p>
          <a:p>
            <a:pPr>
              <a:buFont typeface="+mj-lt"/>
              <a:buAutoNum type="arabicPeriod"/>
            </a:pPr>
            <a:r>
              <a:rPr lang="es-CO" sz="1000" b="1" dirty="0"/>
              <a:t>Consumo:</a:t>
            </a:r>
            <a:r>
              <a:rPr lang="es-CO" sz="1000" dirty="0"/>
              <a:t> API REST conectada a un Dashboard para uso médico.</a:t>
            </a: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grpSp>
        <p:nvGrpSpPr>
          <p:cNvPr id="225" name="Google Shape;225;p3"/>
          <p:cNvGrpSpPr/>
          <p:nvPr/>
        </p:nvGrpSpPr>
        <p:grpSpPr>
          <a:xfrm>
            <a:off x="5309025" y="1748650"/>
            <a:ext cx="3834975" cy="3394725"/>
            <a:chOff x="5309025" y="1748650"/>
            <a:chExt cx="3834975" cy="3394725"/>
          </a:xfrm>
        </p:grpSpPr>
        <p:sp>
          <p:nvSpPr>
            <p:cNvPr id="226" name="Google Shape;226;p3"/>
            <p:cNvSpPr/>
            <p:nvPr/>
          </p:nvSpPr>
          <p:spPr>
            <a:xfrm flipH="1">
              <a:off x="6093300" y="2443375"/>
              <a:ext cx="3050700" cy="2700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30902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8" name="Google Shape;228;p3"/>
            <p:cNvGrpSpPr/>
            <p:nvPr/>
          </p:nvGrpSpPr>
          <p:grpSpPr>
            <a:xfrm>
              <a:off x="7041175" y="1748650"/>
              <a:ext cx="986125" cy="2095500"/>
              <a:chOff x="7631225" y="2241175"/>
              <a:chExt cx="986125" cy="2095500"/>
            </a:xfrm>
          </p:grpSpPr>
          <p:cxnSp>
            <p:nvCxnSpPr>
              <p:cNvPr id="229" name="Google Shape;229;p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0" name="Google Shape;230;p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1" name="Google Shape;231;p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2" name="Google Shape;232;p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3" name="Google Shape;233;p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4" name="Google Shape;234;p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5" name="Google Shape;235;p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6" name="Google Shape;236;p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9" name="Google Shape;239;p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0" name="Google Shape;240;p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1" name="Google Shape;241;p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2" name="Google Shape;242;p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D65607C-7E2F-D919-7940-F84F02FFC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34" y="1115500"/>
            <a:ext cx="5965505" cy="2577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4DBD262C-2A3D-3D4D-8F0A-B92BC4BC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>
            <a:extLst>
              <a:ext uri="{FF2B5EF4-FFF2-40B4-BE49-F238E27FC236}">
                <a16:creationId xmlns:a16="http://schemas.microsoft.com/office/drawing/2014/main" id="{D538A794-BA31-7CC2-987A-CB20507F8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dirty="0"/>
              <a:t>Oportunidades de Mejora </a:t>
            </a:r>
            <a:endParaRPr lang="es-ES" dirty="0">
              <a:latin typeface="Maven Pro"/>
            </a:endParaRPr>
          </a:p>
        </p:txBody>
      </p:sp>
      <p:sp>
        <p:nvSpPr>
          <p:cNvPr id="4" name="Google Shape;200;p2">
            <a:extLst>
              <a:ext uri="{FF2B5EF4-FFF2-40B4-BE49-F238E27FC236}">
                <a16:creationId xmlns:a16="http://schemas.microsoft.com/office/drawing/2014/main" id="{FC4D0F37-6001-8DFD-50E1-45F806AE6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75" y="1956816"/>
            <a:ext cx="7703747" cy="237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O" sz="1400" b="1" dirty="0"/>
              <a:t>1. Calidad del Dato:</a:t>
            </a:r>
            <a:r>
              <a:rPr lang="es-CO" sz="1400" dirty="0"/>
              <a:t> Eliminar el sesgo de los nulos mediante la re-colección de variables críticas (Ictericia, Nutrición).</a:t>
            </a:r>
          </a:p>
          <a:p>
            <a:pPr marL="152400" indent="0">
              <a:buNone/>
            </a:pPr>
            <a:endParaRPr lang="es-CO" sz="1400" dirty="0"/>
          </a:p>
          <a:p>
            <a:r>
              <a:rPr lang="es-CO" sz="1400" b="1" dirty="0"/>
              <a:t>2. Reducción de Dimensionalidad:</a:t>
            </a:r>
            <a:r>
              <a:rPr lang="es-CO" sz="1400" dirty="0"/>
              <a:t> Pasar de 753 a 50 variables clave para facilitar el uso en campo.</a:t>
            </a:r>
          </a:p>
          <a:p>
            <a:pPr marL="152400" indent="0">
              <a:buNone/>
            </a:pPr>
            <a:endParaRPr lang="es-CO" sz="1400" dirty="0"/>
          </a:p>
          <a:p>
            <a:r>
              <a:rPr lang="es-CO" sz="1400" b="1" dirty="0"/>
              <a:t>3. Ingeniería de Características:</a:t>
            </a:r>
            <a:r>
              <a:rPr lang="es-CO" sz="1400" dirty="0"/>
              <a:t> Crear </a:t>
            </a:r>
            <a:r>
              <a:rPr lang="es-CO" sz="1400" i="1" dirty="0"/>
              <a:t>scores</a:t>
            </a:r>
            <a:r>
              <a:rPr lang="es-CO" sz="1400" dirty="0"/>
              <a:t> de riesgo social combinados.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445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dirty="0"/>
              <a:t>Conclusiones</a:t>
            </a:r>
            <a:endParaRPr dirty="0"/>
          </a:p>
        </p:txBody>
      </p:sp>
      <p:sp>
        <p:nvSpPr>
          <p:cNvPr id="275" name="Google Shape;275;p6"/>
          <p:cNvSpPr txBox="1"/>
          <p:nvPr/>
        </p:nvSpPr>
        <p:spPr>
          <a:xfrm>
            <a:off x="720000" y="1112200"/>
            <a:ext cx="77040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667C27-6593-AE8F-A152-409A3B231647}"/>
              </a:ext>
            </a:extLst>
          </p:cNvPr>
          <p:cNvSpPr txBox="1"/>
          <p:nvPr/>
        </p:nvSpPr>
        <p:spPr>
          <a:xfrm>
            <a:off x="868680" y="1801368"/>
            <a:ext cx="797846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Logro:</a:t>
            </a:r>
            <a:r>
              <a:rPr lang="es-CO" dirty="0"/>
              <a:t> Se construyó un prototipo funcional con capacidad predictiva validada (AUC 0.85).</a:t>
            </a:r>
          </a:p>
          <a:p>
            <a:endParaRPr lang="es-CO" dirty="0"/>
          </a:p>
          <a:p>
            <a:r>
              <a:rPr lang="es-CO" b="1" dirty="0"/>
              <a:t>Realidad:</a:t>
            </a:r>
            <a:r>
              <a:rPr lang="es-CO" dirty="0"/>
              <a:t> El modelo es una herramienta de </a:t>
            </a:r>
            <a:r>
              <a:rPr lang="es-CO" b="1" dirty="0"/>
              <a:t>apoyo moderado</a:t>
            </a:r>
            <a:r>
              <a:rPr lang="es-CO" dirty="0"/>
              <a:t> (F1 0.32), no un reemplazo clínico.</a:t>
            </a:r>
          </a:p>
          <a:p>
            <a:endParaRPr lang="es-CO" b="1" dirty="0"/>
          </a:p>
          <a:p>
            <a:r>
              <a:rPr lang="es-CO" b="1" dirty="0"/>
              <a:t>Limitante:</a:t>
            </a:r>
            <a:r>
              <a:rPr lang="es-CO" dirty="0"/>
              <a:t> La alta tasa de Falsos Positivos requiere supervisión humana.</a:t>
            </a:r>
          </a:p>
          <a:p>
            <a:endParaRPr lang="es-CO" b="1" dirty="0"/>
          </a:p>
          <a:p>
            <a:r>
              <a:rPr lang="es-CO" b="1" dirty="0"/>
              <a:t>Valor:</a:t>
            </a:r>
            <a:r>
              <a:rPr lang="es-CO" dirty="0"/>
              <a:t> Permite priorizar la atención en el 25% de los casos alertados que son efectivos.</a:t>
            </a:r>
          </a:p>
          <a:p>
            <a:endParaRPr lang="es-ES_tradn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Macintosh PowerPoint</Application>
  <PresentationFormat>Presentación en pantalla (16:9)</PresentationFormat>
  <Paragraphs>69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Maven Pro</vt:lpstr>
      <vt:lpstr>Montserrat</vt:lpstr>
      <vt:lpstr>Arial</vt:lpstr>
      <vt:lpstr>Business Annual Report by Slidesgo</vt:lpstr>
      <vt:lpstr>Análisis de 70,000 Historias Clínicas del Programa Madre Canguro</vt:lpstr>
      <vt:lpstr>Contexto y Problemática</vt:lpstr>
      <vt:lpstr>El Desafío de los Datos</vt:lpstr>
      <vt:lpstr>Estrategia Analítica (La Solución)</vt:lpstr>
      <vt:lpstr>El Modelo Ganador </vt:lpstr>
      <vt:lpstr>Interpretación: ¿Qué nos dicen los datos?</vt:lpstr>
      <vt:lpstr>Arquitectura del Producto de Datos</vt:lpstr>
      <vt:lpstr>Oportunidades de Mejora 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70,000 Historias Clínicas del Programa Madre Canguro</dc:title>
  <dc:creator>Edgar Toquica</dc:creator>
  <cp:lastModifiedBy>Juan Carlos Tovar Orjuela</cp:lastModifiedBy>
  <cp:revision>2</cp:revision>
  <dcterms:modified xsi:type="dcterms:W3CDTF">2025-12-01T04:21:31Z</dcterms:modified>
</cp:coreProperties>
</file>